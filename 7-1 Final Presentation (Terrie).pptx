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2478acd3d2291a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2478acd3d2291a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3bd253e22548f6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3bd253e22548f6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3bd253e22548f69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3bd253e22548f6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3bd253e22548f69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3bd253e22548f69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3bd253e22548f69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3bd253e22548f69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teamhood.com/agile-resources/agile-team-roles/" TargetMode="External"/><Relationship Id="rId4" Type="http://schemas.openxmlformats.org/officeDocument/2006/relationships/hyperlink" Target="https://www.decipherzone.com/blog-detail/agile-development-lifecycle" TargetMode="External"/><Relationship Id="rId5" Type="http://schemas.openxmlformats.org/officeDocument/2006/relationships/hyperlink" Target="https://www.atlassian.com/agile/project-management/waterfall-methodology" TargetMode="External"/><Relationship Id="rId6" Type="http://schemas.openxmlformats.org/officeDocument/2006/relationships/hyperlink" Target="https://qabrains.com/waterfall-testing-a-structured-approach-to-quality-assuran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Key Facets of Scrum-Agile Approaches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Theresa Banash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the roles in a Scrum-Agile team?</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Product Owner is either the client for the project, or a representative of the client.</a:t>
            </a:r>
            <a:endParaRPr/>
          </a:p>
          <a:p>
            <a:pPr indent="-342900" lvl="0" marL="457200" rtl="0" algn="l">
              <a:spcBef>
                <a:spcPts val="0"/>
              </a:spcBef>
              <a:spcAft>
                <a:spcPts val="0"/>
              </a:spcAft>
              <a:buSzPts val="1800"/>
              <a:buChar char="●"/>
            </a:pPr>
            <a:r>
              <a:rPr lang="en"/>
              <a:t>The Scrum Master is the project team leader, who coordinates the developers, testers, and other team members.</a:t>
            </a:r>
            <a:endParaRPr/>
          </a:p>
          <a:p>
            <a:pPr indent="-342900" lvl="0" marL="457200" rtl="0" algn="l">
              <a:spcBef>
                <a:spcPts val="0"/>
              </a:spcBef>
              <a:spcAft>
                <a:spcPts val="0"/>
              </a:spcAft>
              <a:buSzPts val="1800"/>
              <a:buChar char="●"/>
            </a:pPr>
            <a:r>
              <a:rPr lang="en"/>
              <a:t>The Developers are the ones who develop the program, by coding it, implementing any assets, and designing the UI.</a:t>
            </a:r>
            <a:endParaRPr/>
          </a:p>
          <a:p>
            <a:pPr indent="-342900" lvl="0" marL="457200" rtl="0" algn="l">
              <a:spcBef>
                <a:spcPts val="0"/>
              </a:spcBef>
              <a:spcAft>
                <a:spcPts val="0"/>
              </a:spcAft>
              <a:buSzPts val="1800"/>
              <a:buChar char="●"/>
            </a:pPr>
            <a:r>
              <a:rPr lang="en"/>
              <a:t>The Testers are the ones who test the program. They try every feature in every way they can to make sure nothing breaks.</a:t>
            </a:r>
            <a:endParaRPr/>
          </a:p>
          <a:p>
            <a:pPr indent="0" lvl="0" marL="457200" rtl="0" algn="l">
              <a:spcBef>
                <a:spcPts val="1200"/>
              </a:spcBef>
              <a:spcAft>
                <a:spcPts val="1200"/>
              </a:spcAft>
              <a:buNone/>
            </a:pPr>
            <a:r>
              <a:rPr lang="en"/>
              <a:t>(Vasiliauskas, 2022)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the phases of a Scrum-Agile project?</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The Sprint is the central core of the project. It is where all the actual project work gets done. Every month, the team works on a specific project goal.</a:t>
            </a:r>
            <a:endParaRPr/>
          </a:p>
          <a:p>
            <a:pPr indent="-342900" lvl="0" marL="457200" rtl="0" algn="l">
              <a:spcBef>
                <a:spcPts val="0"/>
              </a:spcBef>
              <a:spcAft>
                <a:spcPts val="0"/>
              </a:spcAft>
              <a:buSzPts val="1800"/>
              <a:buChar char="●"/>
            </a:pPr>
            <a:r>
              <a:rPr lang="en"/>
              <a:t>The Sprint Planning is what happens before the Sprint. It plots out the general skeleton of what will be done during the Sprint, and any contingencies.</a:t>
            </a:r>
            <a:endParaRPr/>
          </a:p>
          <a:p>
            <a:pPr indent="-342900" lvl="0" marL="457200" rtl="0" algn="l">
              <a:spcBef>
                <a:spcPts val="0"/>
              </a:spcBef>
              <a:spcAft>
                <a:spcPts val="0"/>
              </a:spcAft>
              <a:buSzPts val="1800"/>
              <a:buChar char="●"/>
            </a:pPr>
            <a:r>
              <a:rPr lang="en"/>
              <a:t>The Daily Scrum is a daily even done to keep everyone up to date on progress, and plot out the daily </a:t>
            </a:r>
            <a:r>
              <a:rPr lang="en"/>
              <a:t>itinerary</a:t>
            </a:r>
            <a:r>
              <a:rPr lang="en"/>
              <a:t>.</a:t>
            </a:r>
            <a:endParaRPr/>
          </a:p>
          <a:p>
            <a:pPr indent="-342900" lvl="0" marL="457200" rtl="0" algn="l">
              <a:spcBef>
                <a:spcPts val="0"/>
              </a:spcBef>
              <a:spcAft>
                <a:spcPts val="0"/>
              </a:spcAft>
              <a:buSzPts val="1800"/>
              <a:buChar char="●"/>
            </a:pPr>
            <a:r>
              <a:rPr lang="en"/>
              <a:t>The Sprint Review and Sprint Retrospective are very similar in that they focus on looking back on the Sprint, but the Review focuses on whether or not it succeeded, while the Retrospective focuses on planning improvements.</a:t>
            </a:r>
            <a:endParaRPr/>
          </a:p>
          <a:p>
            <a:pPr indent="0" lvl="0" marL="457200" rtl="0" algn="l">
              <a:spcBef>
                <a:spcPts val="1200"/>
              </a:spcBef>
              <a:spcAft>
                <a:spcPts val="1200"/>
              </a:spcAft>
              <a:buNone/>
            </a:pPr>
            <a:r>
              <a:rPr lang="en"/>
              <a:t>While these five form the skeleton of a Scrum-Agile project, there are many more phases that can be implemented. (Nehra, 2022)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Waterfall methodology?</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Waterfall methodology is the exact opposite of the Agile methodology- an inflexible, “you must do this before this” methodology that was invented in the 1970s by Winston Royce. (Atlassian, 2025) It is designed to get the project done, not to get any of its bugs fixed.</a:t>
            </a:r>
            <a:endParaRPr/>
          </a:p>
          <a:p>
            <a:pPr indent="0" lvl="0" marL="0" rtl="0" algn="l">
              <a:spcBef>
                <a:spcPts val="1200"/>
              </a:spcBef>
              <a:spcAft>
                <a:spcPts val="0"/>
              </a:spcAft>
              <a:buNone/>
            </a:pPr>
            <a:r>
              <a:rPr lang="en"/>
              <a:t>It is notoriously interruption hostile- any problems that arise must be accounted for in the initial project plan lest the project be delayed.</a:t>
            </a:r>
            <a:endParaRPr/>
          </a:p>
          <a:p>
            <a:pPr indent="0" lvl="0" marL="0" rtl="0" algn="l">
              <a:spcBef>
                <a:spcPts val="1200"/>
              </a:spcBef>
              <a:spcAft>
                <a:spcPts val="1200"/>
              </a:spcAft>
              <a:buNone/>
            </a:pPr>
            <a:r>
              <a:rPr lang="en"/>
              <a:t>But it still has some uses in today’s work landscape.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When should you use these methodologies?</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Agile methodology is better used for things like directly developing the project you’d need bugtesting for, as you need the flexibility to handle any problems that arise during development. </a:t>
            </a:r>
            <a:endParaRPr/>
          </a:p>
          <a:p>
            <a:pPr indent="0" lvl="0" marL="0" rtl="0" algn="l">
              <a:spcBef>
                <a:spcPts val="1200"/>
              </a:spcBef>
              <a:spcAft>
                <a:spcPts val="0"/>
              </a:spcAft>
              <a:buNone/>
            </a:pPr>
            <a:r>
              <a:rPr lang="en"/>
              <a:t>The Waterfall methodology is better for individual bouts of bugtesting.</a:t>
            </a:r>
            <a:r>
              <a:rPr lang="en"/>
              <a:t> The inflexibility of Waterfall is a complete non-issue in such areas, as the end goal is just “whether or not you can do all these things without issues appearing.”</a:t>
            </a:r>
            <a:endParaRPr/>
          </a:p>
          <a:p>
            <a:pPr indent="0" lvl="0" marL="0" rtl="0" algn="l">
              <a:spcBef>
                <a:spcPts val="1200"/>
              </a:spcBef>
              <a:spcAft>
                <a:spcPts val="1200"/>
              </a:spcAft>
              <a:buNone/>
            </a:pPr>
            <a:r>
              <a:rPr lang="en"/>
              <a:t>Furthermore, it mandates detailed documentation, which is always helpful when your goal is to test for problems, document them, and tell people what they need to know in order to fix it.(ridwan, 2025)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Citations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12700" rtl="0" algn="l">
              <a:lnSpc>
                <a:spcPct val="150000"/>
              </a:lnSpc>
              <a:spcBef>
                <a:spcPts val="0"/>
              </a:spcBef>
              <a:spcAft>
                <a:spcPts val="0"/>
              </a:spcAft>
              <a:buNone/>
            </a:pPr>
            <a:r>
              <a:rPr lang="en" sz="1600">
                <a:solidFill>
                  <a:schemeClr val="dk1"/>
                </a:solidFill>
              </a:rPr>
              <a:t>Vasiliauskas, V. (2022, August 18). </a:t>
            </a:r>
            <a:r>
              <a:rPr i="1" lang="en" sz="1600">
                <a:solidFill>
                  <a:schemeClr val="dk1"/>
                </a:solidFill>
              </a:rPr>
              <a:t>Agile team roles and responsibilities: A brief guide</a:t>
            </a:r>
            <a:r>
              <a:rPr lang="en" sz="1600">
                <a:solidFill>
                  <a:schemeClr val="dk1"/>
                </a:solidFill>
              </a:rPr>
              <a:t>. Teamhood. </a:t>
            </a:r>
            <a:r>
              <a:rPr lang="en" sz="1600" u="sng">
                <a:solidFill>
                  <a:schemeClr val="hlink"/>
                </a:solidFill>
                <a:hlinkClick r:id="rId3"/>
              </a:rPr>
              <a:t>https://teamhood.com/agile-resources/agile-team-roles/</a:t>
            </a:r>
            <a:br>
              <a:rPr lang="en" sz="1600">
                <a:solidFill>
                  <a:schemeClr val="dk1"/>
                </a:solidFill>
              </a:rPr>
            </a:br>
            <a:r>
              <a:rPr lang="en" sz="1600">
                <a:solidFill>
                  <a:schemeClr val="dk1"/>
                </a:solidFill>
              </a:rPr>
              <a:t>Nehra, M. (2022, May 11). </a:t>
            </a:r>
            <a:r>
              <a:rPr i="1" lang="en" sz="1600">
                <a:solidFill>
                  <a:schemeClr val="dk1"/>
                </a:solidFill>
              </a:rPr>
              <a:t>6 Stages of the agile development lifecycle</a:t>
            </a:r>
            <a:r>
              <a:rPr lang="en" sz="1600">
                <a:solidFill>
                  <a:schemeClr val="dk1"/>
                </a:solidFill>
              </a:rPr>
              <a:t>. Www.Decipherzone.Com. </a:t>
            </a:r>
            <a:r>
              <a:rPr lang="en" sz="1600" u="sng">
                <a:solidFill>
                  <a:schemeClr val="hlink"/>
                </a:solidFill>
                <a:hlinkClick r:id="rId4"/>
              </a:rPr>
              <a:t>https://www.decipherzone.com/blog-detail/agile-development-lifecycle</a:t>
            </a:r>
            <a:r>
              <a:rPr lang="en" sz="1600">
                <a:solidFill>
                  <a:schemeClr val="dk1"/>
                </a:solidFill>
              </a:rPr>
              <a:t> </a:t>
            </a:r>
            <a:br>
              <a:rPr lang="en" sz="1600">
                <a:solidFill>
                  <a:schemeClr val="dk1"/>
                </a:solidFill>
              </a:rPr>
            </a:br>
            <a:r>
              <a:rPr lang="en" sz="1600">
                <a:solidFill>
                  <a:schemeClr val="dk1"/>
                </a:solidFill>
              </a:rPr>
              <a:t>Atlassian. (2025). </a:t>
            </a:r>
            <a:r>
              <a:rPr i="1" lang="en" sz="1600">
                <a:solidFill>
                  <a:schemeClr val="dk1"/>
                </a:solidFill>
              </a:rPr>
              <a:t>Waterfall methodology for project management</a:t>
            </a:r>
            <a:r>
              <a:rPr lang="en" sz="1600">
                <a:solidFill>
                  <a:schemeClr val="dk1"/>
                </a:solidFill>
              </a:rPr>
              <a:t>. Atlassian. </a:t>
            </a:r>
            <a:r>
              <a:rPr lang="en" sz="1600" u="sng">
                <a:solidFill>
                  <a:schemeClr val="hlink"/>
                </a:solidFill>
                <a:hlinkClick r:id="rId5"/>
              </a:rPr>
              <a:t>https://www.atlassian.com/agile/project-management/waterfall-methodology</a:t>
            </a:r>
            <a:r>
              <a:rPr lang="en" sz="1600">
                <a:solidFill>
                  <a:schemeClr val="dk1"/>
                </a:solidFill>
              </a:rPr>
              <a:t> </a:t>
            </a:r>
            <a:br>
              <a:rPr lang="en" sz="1600">
                <a:solidFill>
                  <a:schemeClr val="dk1"/>
                </a:solidFill>
              </a:rPr>
            </a:br>
            <a:r>
              <a:rPr lang="en" sz="1600">
                <a:solidFill>
                  <a:schemeClr val="dk1"/>
                </a:solidFill>
              </a:rPr>
              <a:t>ridwan. (2025, May 21). </a:t>
            </a:r>
            <a:r>
              <a:rPr i="1" lang="en" sz="1600">
                <a:solidFill>
                  <a:schemeClr val="dk1"/>
                </a:solidFill>
              </a:rPr>
              <a:t>Waterfall testing: A structured approach to quality assurance</a:t>
            </a:r>
            <a:r>
              <a:rPr lang="en" sz="1600">
                <a:solidFill>
                  <a:schemeClr val="dk1"/>
                </a:solidFill>
              </a:rPr>
              <a:t>. QA Brains. </a:t>
            </a:r>
            <a:r>
              <a:rPr lang="en" sz="1600" u="sng">
                <a:solidFill>
                  <a:schemeClr val="hlink"/>
                </a:solidFill>
                <a:hlinkClick r:id="rId6"/>
              </a:rPr>
              <a:t>https://qabrains.com/waterfall-testing-a-structured-approach-to-quality-assurance</a:t>
            </a:r>
            <a:r>
              <a:rPr lang="en" sz="1600">
                <a:solidFill>
                  <a:schemeClr val="dk1"/>
                </a:solidFill>
              </a:rPr>
              <a:t>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